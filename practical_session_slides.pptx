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7"/>
  </p:notesMasterIdLst>
  <p:sldIdLst>
    <p:sldId id="256" r:id="rId3"/>
    <p:sldId id="711" r:id="rId4"/>
    <p:sldId id="257" r:id="rId5"/>
    <p:sldId id="439" r:id="rId6"/>
    <p:sldId id="709" r:id="rId7"/>
    <p:sldId id="693" r:id="rId8"/>
    <p:sldId id="710" r:id="rId9"/>
    <p:sldId id="712" r:id="rId10"/>
    <p:sldId id="713" r:id="rId11"/>
    <p:sldId id="716" r:id="rId12"/>
    <p:sldId id="717" r:id="rId13"/>
    <p:sldId id="718" r:id="rId14"/>
    <p:sldId id="714" r:id="rId15"/>
    <p:sldId id="71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4"/>
    <p:restoredTop sz="94761"/>
  </p:normalViewPr>
  <p:slideViewPr>
    <p:cSldViewPr snapToGrid="0">
      <p:cViewPr varScale="1">
        <p:scale>
          <a:sx n="142" d="100"/>
          <a:sy n="142" d="100"/>
        </p:scale>
        <p:origin x="11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20:59:37.6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94,'53'0,"-5"0,-40 0,3-3,10 2,-10-2,14 3,-5 0,-3 0,14 0,-13 0,5 0,-11 0,2 0,5 0,-2 0,13 0,-13 0,14 0,-13 0,13 0,-14 0,7 0,-9 0,0 0,4 0,-3 0,2 0,-2 0,-1 0,8 0,-6 0,15 0,-7 0,9-5,-1 4,-7-4,5 5,-6 0,1 0,-3 0,-8 0,0-4,1 0,7 0,2-5,1 8,-3-7,-8 7,9-2,1 3,0 0,7 0,-7 0,9-5,-9 3,7-3,10 5,-13-3,36 2,-44-2,19 3,-25-4,1 4,2-7,-5 6,5-2,-3 3,-3 0,13-4,-3 3,2-2,-1 3,-8 0,-3 0,9 0,-11 0,11 0,-1 0,6 0,24 0,4 0,34 10,-30-8,25 8,-45-10,4 0,-11 0,-17 0,17 0,-9 0,3 0,-1 0,-9 0,25 0,-11 0,38 8,-13-6,1 5,-13-7,-19 0,0-5,-9 4,17-4,-9 5,28 0,4 0,1 0,-5-5,-2 4,-19-4,9 5,-22 0,-1 0,0 0,0 0,0 0,1 0,-1 3,8-2,3 3,7-4,-8 0,-5 0,-9 0,4 0,4 0,-2 3,4-2,2 2,4-3,10 0,-12 0,6 0,-13 4,5-3,-11 2,6 0,-6-2,7 3,-1-4,-2 0,3 0,-4 0,4 0,-7 0,14 0,-15 0,19 0,-16 0,10 3,-1-2,-6 2,15 2,-18-4,8 8,-2-8,-3 2,7-3,-9 0,8 5,2-4,1 4,5-5,-13 0,5 0,-8 0,4 0,-3 0,10 0,-8 0,5 0,0 0,-5 0,5 0,0 0,-6 0,7 3,-12-2,2 3,13 1,-8-4,19 4,-13-5,9 0,16 0,-21 0,20 0,-32 0,6 0,0 0,3 0,7 0,17 0,-12 0,4 0,-19 0,-7 0,-5 0,11-4,-9 4,17-4,-4 4,7 0,-8 0,7 0,-7 0,1 0,-6 0,-6 0,1-3,1 2,3-2,4 3,2 0,1 0,5-5,-5 3,7-3,17-2,-20 5,10-6,-25 8,0 0,9 0,-7 0,14 0,-5-5,7 4,1-4,-9 5,-2 0,-7 0,-5 0,12 0,-9-4,6 3,-3-2,-4 3,6 0,4 0,-6 0,7 0,-9 0,-3 0,5 0,-4 0,30 0,4 0,7 0,-12 0,-19 0,-11 0,10 5,-11-4,20 4,-18-5,7 0,-2 4,-5-4,5 4,6 1,1-4,9 4,-9-2,-2-2,-11 2,2-3,5 0,-2 0,5 4,-7-3,0 2,9 2,-7-4,6 4,-8-5,-3 4,9-4,-11 4,12-1,-2-2,-3 2,6-3,-8 0,1 0,7 0,-6 0,15 5,-15-3,6 3,17-5,-10 0,12 0,-19 0,-8 0,9 0,-7-4,3 3,-6-2,-2 3,6 0,-1 0,1 0,-3 0,0 0,1 0,-1 0,0 0,8 0,3 0,7 0,1 0,-9 0,-1 0,-13 0,4 0,0 0,1 0,6 0,-9 0,4 0,-1 0,0 0,2 0,-3 0,1 0,-1 0,0 0,0 0,0 0,4 0,-3 0,-1 0,3 0,-5 0,5 0,1 0,-3 0,-1 0,7 0,-8 0,10 0,-9 0,0 0,4 0,-3 0,2 0,-3 0,1 0,-1 0,8 0,-6 0,15 0,-15 0,6 0,-11 0,3 0,0 0,1 0,2 0,1 0,-6 0,8-3,-5 2,3-3,8 4,-10 0,7 0,-9 0,0-3,0 2,4-2,5 3,-7 0,6 0,-11 0,3-4,3 4,-5-4,5 4,-3 0,26 0,-8 0,17 0,-25 0,-2 0,1 0,1 0,1 0,-3-3,-8 2,8-2,-5 3,13 0,-5 0,-1 0,6 0,-5 0,7 0,17 0,-12 0,12 0,-28 0,1 0,-15 0,10 0,-2 0,3 0,0 0,-4 0,8 0,-5 0,13-5,-6 3,1-3,5 5,-5 0,7 0,1 0,-12 0,8 0,-16 0,10 0,-1 0,2 0,25 0,-12 0,29 0,-13 0,0 0,13 0,-29 0,12 0,-25-3,-1 2,-9-2,0-1,0 4,23-4,-17 4,26 0,-22 0,9 0,16 0,-13 0,14-5,-18 4,-8-4,7 5,-7 0,9 0,-1-5,-7 4,5-4,-14 5,7-3,13 2,-17-3,17 4,-14 0,-5 0,5 0,-8 0,-3 0,6 0,-6 0,32 0,-15 0,21 0,-16 0,-1 0,-7 0,-3 0,-8 0,-3 0,6 0,-5 0,5 0,5 0,-5 0,5 0,0 0,-5 0,5 0,-11 0,2 0,39 0,-19 0,25 0,-39 0,-6 0,-2 0,10 0,3 0,-1 0,-1 0,0 0,3 0,7 0,1 0,-1 0,-7 0,-3 0,-11 0,6 0,-6 0,18-5,-12 4,9-7,-12 7,9-2,-7 3,6 0,-8 0,9 0,1 0,9 0,-9 0,7 0,-7 0,8 0,1 0,-1 0,1 0,-12 0,0 0,-13 0,12 0,-7 0,7 0,3 0,1 0,9 0,-9 0,23 0,-18 0,12 0,-11 0,-14 0,7 0,-12 0,2 0,1 0,1 0,3 0,4 0,-6 0,7 0,-1 0,-6 0,7 3,-9-2,0 2,8-3,-9 0,17 0,-17 0,9 0,0 0,-5 0,5 0,0 5,-6-4,7 4,-9-5,8 0,3 0,-1 0,-2 0,-7 0,-1 0,3 0,-5 0,5 0,0 0,-4 0,15 0,-15 0,6 0,1 0,-7 0,16 0,-13 0,14 0,-13 0,13 0,-6 0,1 0,-3 0,-8 0,1 0,-1 0,8 0,-6 0,15 0,-15 0,6 0,1 0,-7 0,3 0,-6 0,-2 0,10 0,-8 0,3 0,52 0,-18 0,2 0,-1 0,-10 0,-6 0,-28 0,3 0,9 0,-3 0,3 0,-6 0,-2 0,18 0,-11 0,36 0,-26 5,21-3,-24 2,-3-4,-8 0,9 0,-7 0,6 0,1 0,1 0,9 0,-9 0,6 0,-17 0,9 0,-11 0,3 4,3-3,-2 2,3 0,0-2,5 3,-7-4,5 0,-10 0,3 3,9-2,-7 2,15 2,-7-3,25 2,-12-4,4 0,-11 0,-5 0,7 0,-8 0,-1 0,-1 0,-6 0,7 0,-9 0,8 0,-6 0,15 0,-15 0,29 0,-25-3,18 2,-16-2,-6-1,7 4,-9-4,-3 4,9-3,0 2,12-7,0 6,1-3,-9 2,6 2,-13-2,5 0,-8 2,0-3,1 4,-1 0,8 0,2 0,1 0,5 0,-13 0,2 0,-6 0,-2 0,6 0,-2 0,0 0,1 0,-1 4,0-3,2 2,-6-3,3 0,7 0,-5 0,13 0,-5 5,9-4,-1 4,1-5,-1 0,-7 0,-3 3,-8-2,-3 3,9-4,-11 0,12 3,4-2,-7 2,11-3,-15 0,1 0,-1 0,25 0,-11-5,13 4,-18-4,-12 5,2 0,1 0,1 0,11 0,-10 0,15 0,-7 0,25 0,-12 0,12 0,-25 0,-5 0,-9 0,8 0,20-8,32 6,-13-6,9 8,-42 0,-1 0,-12 0,2 0,4 4,7-3,24 2,-11-3,12 0,-16 0,-1 0,-8 3,-1-2,-12 3,2-4,1 0,1 3,3-2,-4 2,0-3,8 0,3 0,-1 0,-1 0,-13 0,4 0,5-5,5 4,0-4,-1 5,-9 0,0 0,0-3,1 2,-1-3,0 4,4 0,-7 0,6 0,-3-3,-2 2,11-2,-14 3,8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21:00:07.217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0 81,'41'-4,"-6"1,-11 3,-7 0,3 0,-6 0,2 0,3 3,0-2,0 2,-4-3,0 0,1 0,-1 0,0 0,4 0,-7 0,9 0,-8 0,9 0,-9 0,4 0,-1 0,0 0,14 0,-12 0,17 0,-10 0,9 5,-1-3,-8 2,-1-4,-12 0,13 0,-2 0,6 0,-6 0,-11 0,11 0,-9 4,17-3,-14 2,15-3,10 0,-5 0,14 0,-18 0,1 0,-1 0,1 0,-1 0,-8 0,7 0,-7 0,1 0,5 0,-14 0,7 0,-9 0,0 0,8 0,-9 0,9 0,-11 0,6 0,2 0,-4 0,1 0,-1 0,0 0,2 0,6 0,1 0,8 0,-7 0,-3 0,-8 0,1 0,-1 0,0 0,8 0,-5 0,13 0,-14 0,7 0,-1 0,-6 0,15 5,-7-4,-3 4,9-5,-18 0,11 0,-9 0,0 0,4 0,-3 0,11 0,-10 0,14-5,-14 4,15-4,-15 5,15 0,-15 0,6 0,-11 0,2 0,2-3,0 2,10-3,-12 4,17 0,-17 0,9 0,0 0,-5 0,13 0,-5 0,-1 0,6 0,-17 0,9 0,-11 0,3 0,3 0,-2 0,3 0,-4 0,8-4,3 2,7-3,1 5,-1-5,1 4,-1-9,-7 9,5-4,-14 2,7 2,-9-3,8 4,-5 0,5 0,0 0,3-5,-1 4,6-4,-5 5,14 0,-13 0,11 0,-20 0,5 0,-8 0,0 0,1 0,-1 0,0 0,0 0,0 0,4 0,-6 0,4 0,-1 0,0 0,2 0,-3 0,1 0,-1 0,3 0,-5 0,5 0,0 0,-1 0,5 0,-7 0,1 0,2 0,-2 4,3-4,-1 4,-2-4,0 0,5 0,0 0,3 0,0 0,-9 0,-3 0,9 3,-11-2,11 2,6-3,-8 0,11 0,-15 0,-3 0,6 4,-6-3,10 2,-6-3,3 0,4 0,3 5,7-4,-8 4,7-5,-7 0,1 0,5 0,-14 0,3 0,-5 0,-4 0,20 0,-12 0,19 0,4 0,-13 0,19 5,-22-4,7 4,1-5,-1 0,1 0,-9 0,-2 0,-7 4,7-3,-6 2,7 0,-1-2,-6 3,15 1,-7-4,9 4,-9-5,6 0,-5 0,7 0,17 0,5 0,-1 0,-4 0,-25 0,-5 0,-9 0,4 0,1 0,0 0,2 0,-3 0,4 0,1 0,-2 0,-6 0,6 0,-2 0,3 0,0 0,4 0,-6 0,28 0,-24 0,12 0,-22 3,-3-2,17 6,-10-6,10 2,-2-3,-1 0,3 0,6 0,-13 0,5 0,-8 0,9 0,-7 0,6 0,0 0,3 0,-1 0,7 0,-15 0,6 0,-8-3,1 2,-1-3,0 4,0 0,0 0,1-3,-1 2,0-2,0 3,0-4,1 4,-1-4,0 4,0 0,0 0,1 0,7 0,36 0,-1 0,5 0,-23 0,-25 0,8 0,-5 0,5 0,0-5,-9 4,5-4,-1 5,4 0,10 0,1 0,1 0,-9 0,-2 0,-7 0,-5 0,7 0,-2 0,0 0,2 0,-6 0,10 0,3 0,-1 0,-1 0,-8-3,1 2,-1-3,0 4,8 0,-5 0,5 0,0 0,-6 0,7 0,-12 0,2 0,1 4,1-3,3 2,4-3,2 0,9 0,16 0,-12 0,29 8,-30-6,5 6,-18-8,-13 0,4 0,3 0,-1 0,5 0,1 0,-5 0,5-4,-8 3,9-2,1 3,8 0,-7 0,-3-3,1 2,-7-3,6 4,0-4,-5 2,13-3,-5 5,7 0,1 0,-9-3,6 2,-13-2,5 3,-8 0,0 0,1 0,7 0,-6 0,15 0,-7 0,8 0,1 0,-9 0,-1 0,-9 0,0 0,0 0,0 0,1 0,-1 0,0 0,0 0,1 0,7 0,-6 0,6 0,-7-4,-1 3,0-2,0 3,4 0,-3 0,2 0,6 0,1 0,9 0,-1 0,-7 0,-7 0,-4 0,0 0,4 0,1 0,-5 0,-1 0,5 0,-5 0,85-12,-43 10,-1-5,-3 2,-13 5,-20 0,-11 0,17 0,-1 0,5 0,-10 0,-11 0,13 0,-7 0,20 5,-21-4,7 4,-6-1,7-4,7 4,6-4,16 0,-12 5,28-4,-28 4,12-5,-24 0,-3 0,-8 0,0 0,1 0,2 0,-5 0,8 0,-8 0,9 0,-6 0,2 0,6 0,1 0,0 0,-5 0,-5 0,-4 0,11 0,-5 0,5 0,2 0,-11 0,10 0,-3 0,-6-3,8 2,-2-3,-6 4,9 0,-12 0,5-3,6 2,-6-2,6 3,2 0,1 0,9 0,-9 0,6 0,-13 0,5-4,-8 3,0-2,1 3,-1 0,0 0,8-5,3 4,24-4,-12 5,12 0,-17 0,-7 0,-3 0,-8 0,0 0,4 3,-3-2,-1 3,14-4,-13 0,22 0,-21 0,7 0,-9 0,0 0,0 0,4 0,-6 0,4 0,10 0,-8 0,19-5,-21 3,15-3,-15 2,6 2,-11-2,3 3,0 0,29 0,23 0,11 0,10 0,-42 0,-6 0,-28 0,-1 0,8 0,-5 0,9 0,0 0,-9 3,9-2,-11 2,3-3,8 0,-6 0,7 0,-1 0,2 0,1 0,-6 0,-6 0,-2 0,7 0,-3 0,10 0,0 0,7-5,-7 4,-6-4,-6 5,-2 0,6 0,-2 0,3 0,4 0,3 0,7 0,1 0,-1 0,1 0,-1 0,-7 0,-3 0,-8 0,0 0,4 4,5-4,5 4,4-4,1 0,33 9,-9-6,30 6,-18-9,-15 0,-5 0,-25 4,7-3,-15 2,14-3,-13 0,30 0,-19 0,13 0,6 0,-1 0,7-5,13 4,-38-8,11 9,-25-4,-3 4,11 0,-13 0,21 0,-21 0,21 0,-6 0,1 0,9 0,7 0,-4 0,12 0,-16 5,-9-4,-2 4,-11-5,2 0,2 7,0-5,14 5,-12-7,17 0,-18 0,14 0,-17 0,9 0,-11 0,11 0,2 0,1 0,-3 0,-8 0,0 0,1 0,-1 0,3 0,-5 0,5 0,0 0,-1 0,13 0,-4 0,-4 0,0 0,-10 0,3 0,4 0,-7 0,18 0,-16 0,21 0,-9 0,7 0,1 0,-1 0,1 0,-9 0,7 0,-7 0,0 0,-1 0,-1 0,19 0,12 0,1 0,-5 0,0 0,-13 0,14 0,-26 0,-2 0,-8 0,1 0,2 0,-2 0,11 0,-10 0,31 0,-18 0,20 0,-25 0,-1 0,-9 0,-3 0,5 0,-4 0,6 0,-4 0,0 0,0 0,1 0,2-4,-5 3,5-2,-3 3,-3 0,21 0,-21 0,17 0,-17 0,3 0,16 0,-13 0,21 0,-22 0,6 0,-8 0,1 0,7 0,-6 0,7 0,-9 0,0 0,8 0,-5 0,5-3,0 2,-6-3,15-1,-15 4,15-4,-15 2,6 2,1-2,-7 3,6 0,-11-4,2 3,5-2,-2 3,1 0,-3 0,0 0,1 0,3 0,-4 0,0 0,0 0,0 0,1 0,-1 0,0 0,0-3,0 2,1-3,-1 4,0 0,0-3,0 2,9-2,1 3,9-5,-1 4,-8-4,-1 5,-12 0,2 0,1 3,1-2,3 2,-1-3,-2 0,3 0,-4 0,0 0,1 0,-1 0,25 0,-22 0,18 0,-25 0,-3 0,41 0,-32 4,29-3,-38 2,-1-3,18 3,-13-2,12 3,-9-4,-3 0,15 0,-10 0,3 0,-5 0,-4 0,8-4,-3 3,3-2,-4 3,0 0,0 0,8 0,-5 0,2 0,-6 0,-2 0,31 8,-21-6,22 6,-36-5,2-2,-5 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1T21:00:31.021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</inkml:brush>
  </inkml:definitions>
  <inkml:trace contextRef="#ctx0" brushRef="#br0">1 17,'54'9,"-12"-1,-19-8,-7 0,-1 0,8 0,-6 0,31 0,-26 0,26 0,-6 0,12 0,34 0,-30 0,26 0,-47 0,5 0,-10 0,-7-5,9 4,-1-4,17 5,-12 0,29 0,-13 0,17 0,-25 0,2 0,-23 5,1-4,5 4,-5-5,22 0,-11-5,12 4,-16-4,17 5,-12-5,29 4,-13-4,0 5,11 0,-27 0,-2 0,-5 0,-2-5,-2 4,11-4,-21 5,7 0,-9 0,-3 0,9 0,-11 0,15 0,-13 0,7 0,4 0,-6 0,7 0,-1 0,-6 0,7 3,-9-2,8 2,-6-3,7 0,-12 0,10 5,-8-3,9 6,-8-7,9 2,-7-3,6 0,1 0,-7 0,6 0,-8 0,9 0,-10 0,8 0,-10 0,3-3,7 2,-8-2,3 3,-2 0,-3 0,7 0,-4 0,8 5,3-4,7 4,1 0,-9-4,-1 4,-9-5,-3 0,5 3,-4-2,6 3,4-4,-9 0,8 0,-10 3,11 3,3-2,-1 1,23-5,-18 0,12 0,-11 5,-13-4,5 4,-8-5,8 0,3 0,-1 0,23 0,-18 0,20-5,-17 4,1-4,-1 5,-11 0,1 0,-3 0,-3 0,31 0,-18 0,53 0,-24 0,-8 0,2 0,22 0,-12 0,1 0,-34 0,12 0,-11 0,-14 0,7 0,-1 0,-6 0,15 0,-15 0,31 0,-18 0,35 0,-28 0,3 0,-16 0,-13 0,4 0,3 0,-1 0,5 0,2 0,1 0,8 0,1 0,-1 0,1 0,16 0,-12 0,12 0,-17 0,1 0,-1 0,-7 0,-3 0,0-5,3-1,-1 0,7-4,-15 9,6-8,-8 9,1-7,-1 6,0-2,0 3,0 0,4-4,-6 3,4-5,10 5,-8-3,11 4,-15 0,1 0,-1 0,0 0,0 0,0 0,12 0,-1 0,0 0,-4 0,-10 0,11 5,3-3,24 3,-21-2,11-2,-25 2,1 1,7-4,2 4,1-4,5 0,-17 0,17 0,-17 3,6-2,-6 2,-2-3,10 4,-5-3,1 2,-3-3,-4 0,11 3,3-2,-1 3,0-4,-9 3,8-2,3 2,-1-3,-2 0,-8 0,-3 0,18 0,-15 0,23 0,-20 0,5 0,0 0,3 0,7 0,1 0,-9 0,-2 0,-7 0,7 0,-6 0,6 0,-7-3,24 2,-11-2,13 3,-10 0,10 0,-13 0,11-4,-25 3,9-2,1 3,0 0,7 0,-7 0,1 0,-3 0,24 0,-16 0,26 0,-24 0,1 0,-9 0,-2 3,-7-2,-1 3,8 0,-6-2,7 3,-9-5,-3 0,6 0,-2 0,0 0,1 0,3 0,-2 0,13 0,-6 0,1 3,-3-2,-8 2,1-3,-1 0,8 0,-6 0,15 0,-7 0,9 0,-1 0,17 0,-12 0,12 0,-16-5,-9 4,-2-4,-7 5,-1 0,0 0,3 0,-5 0,5 0,0 0,-1 0,13 0,-12 0,5 0,-11 0,2 0,5 0,-2 0,5 0,-7 0,0 0,0 0,9 0,1 0,0 0,-1 0,-13 0,7 4,-5-4,5 4,-2-4,7 0,2 0,9 0,-1 0,1 5,-9-4,7 9,-15-9,3 4,-6-5,10 0,-6 0,5 0,-9 0,6 0,-2 3,13-2,-14 3,15-4,-7 5,1-4,-3 4,-8-5,8 0,-5 0,5-4,-8 4,0-4,4 4,-3 0,3 0,4 0,-6 0,15 0,-7 5,9-4,-1 4,-8-5,7 0,-15 0,15 0,-7 0,25 8,4-6,17 6,0-8,-17 0,3 5,-21-4,-8 4,-9-5,-11 0,10 0,3 0,3 0,8 0,-7 0,9-5,-1 4,1-4,-1 5,-11 0,1 0,-11 0,3 0,3 0,-2-3,0 2,1-2,-4 3,9 0,2 0,-3 0,2 0,-8 0,1 0,-1 0,0 0,8 0,-9 0,17-5,-17 3,17-8,-14 9,7-7,-1 7,-6-2,15 3,-15 0,14 0,-13-4,5 3,-8-2,-3 3,6-3,-6 2,18-3,-11 4,32 0,-30 0,34 0,-36 0,8 0,-16 0,0 0,7 0,-1 0,5 0,-10 0,14 0,-11 0,11 0,-10 0,7 0,-6 0,7 0,-9 0,0 0,4 0,-3 0,10 0,-8 0,13 0,-14 0,7 0,-9 0,0 4,8-3,-9 2,17-3,-21 0,13 3,-11-2,3 3,15-4,-11 0,19 0,-13 0,9 0,-9 0,-1 0,-9 0,0 0,0 0,0 0,9 0,-7 0,14 0,-5 0,-1 0,7 0,-7 0,0 0,-1 0,-12 0,2 0,5-4,-3 3,15-2,-6-2,25 4,-12-4,12 5,-17 0,1-5,-9 4,-1-4,-13 5,4 0,0 0,1 0,3 0,-4 0,0 0,0 0,0 0,9 0,1 0,9 0,16 0,-13 0,30 0,-13 0,17 0,0 0,-25 0,-6-4,-24 3,-1-2,0 3,0 0,0-3,9 2,-7-3,14 4,-17 0,9 0,-11 0,3 0,7 0,3 0,23 0,23 0,4 0,13 0,-17 0,0 0,-17 0,-4 0,-16 0,-9 0,7 0,-19 0,10 0,-3 0,-6 0,8 0,-10 0,15 0,-9 0,9 0,-12 4,-3-3,5 2,-4-3,6 0,-1 0,6 0,5 0,21 0,-12 0,12 5,0-4,-20 4,18-5,-34 0,8 0,-2 0,-3 0,7 0,-9 0,0 0,4 0,-3 0,10 0,0 5,7-4,1 4,-1-5,1 0,16 0,-12 0,28 0,-28 0,4 0,-11 0,-13 0,13 0,-5-5,-1 4,-2-4,1 5,-7 0,14-5,-5 4,24-4,-13 0,14 4,-18-4,-8 5,7 0,-15 0,15 0,-18 0,8 0,-10 0,3 0,4 0,-3 0,10 0,-8 0,13 0,-14 0,7 0,-9 0,8 0,-9 0,9 0,-12 0,5 0,14 0,-11 0,19 0,-13 5,9-4,-9 4,-2-5,1 5,1-4,1 4,5-5,-6 0,9 0,-9 0,-1 0,-9 0,0 0,0 0,0 0,9 5,1-4,9 4,-9-5,-2 0,7 0,-11 0,11 0,-14 0,-5 0,11-3,-9 2,17-2,-4-2,-1 4,6-9,-13 8,5-3,-8 2,0 2,1-2,-1 3,0 0,0 0,0 0,1 0,-1 0,0 0,0 0,4 0,-3 0,-1-4,6 4,-7-4,16 4,-5 0,9 0,-9 0,-2 0,-7 0,-1 4,0-4,3 4,-1-4,1 0,-3 0,9 0,-7 0,6 0,1-5,-7 4,14-4,-13 5,5 0,-8 0,0 0,0 0,1-4,-1 3,0-2,4 3,-3 0,2 0,-3 0,1 0,2 0,-5 0,8 0,-8 0,9 0,-6 0,-1 0,3 3,-2-2,0 3,1-4,-1 0,0 3,6-2,-10 2,6-3,-3 0,1 0,3 0,-4 0,0 0,4 0,-6 0,4 0,2 0,-6 0,8 0,-9 0,3 0,4-3,-3 2,-1-2,6 3,-7 0,5 0,-2 0,-1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A29B5-C89C-F44C-BDBB-4AFDE91B817C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C7E74D-300F-E64D-A358-F0BECE794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79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transition isn't working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115CB7-7545-F048-8BB8-DCEBC636CC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7726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580DB-12A5-CCB2-D56C-7C02A2758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121AD9-1E26-EC47-78D0-8F9F9803D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E15DE-D096-229B-A6F1-7677748B2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transition isn't working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12245-9D60-F421-62E7-683727567A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115CB7-7545-F048-8BB8-DCEBC636CC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2402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C1354-B90D-202A-C5A2-EE780F055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41121E-12C2-0DBE-4D05-19BE6E313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BC59-FD66-16CD-945E-667759BB2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7E9F-89F3-A146-BAC5-DC786C39DC7B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CE0F6-5FB6-5B5C-C578-E21A14843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82CD0-5A25-DC6D-7279-99D02B86A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6361-5432-B040-9B0C-0810FD3E2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9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79D5B-C64B-4B6B-BF01-2932910B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9765C-77EF-3071-2D67-11B76677F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24C62-6B47-CF06-FAC9-0A00BF916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7E9F-89F3-A146-BAC5-DC786C39DC7B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4C2D8-586F-272A-C024-DDB01B501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CB8D1-CFC0-6900-E035-1F7B7A225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6361-5432-B040-9B0C-0810FD3E2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7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ED85B-A249-969C-7AC4-3A88D7860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0153A-E588-8049-FC31-CB784F417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82C54-3064-0C5C-499E-7CD6BBD9E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7E9F-89F3-A146-BAC5-DC786C39DC7B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C6E43-6E39-5DEF-676F-110A47343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D7C42-9843-5A02-F604-5A678AEE1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6361-5432-B040-9B0C-0810FD3E2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0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02445-9704-7753-5632-33A98E39A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1238C-ABFC-A911-80BF-2AB90F9A68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5E70EC-FD04-F338-D7AD-17649BE5C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1A8F6-6F8F-8175-245F-799480939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7E9F-89F3-A146-BAC5-DC786C39DC7B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7AB02-2012-E1E3-641A-BF7F245F4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411EE-B91A-6D72-9BFA-291D82781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6361-5432-B040-9B0C-0810FD3E2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91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A7B6D-ADCB-70AA-9A77-F11263579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3AACB-9F4F-BE31-CF73-D3FC7EB5D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CB053-CF27-0AA7-9656-991E5940F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F2FD40-01A1-538E-CB26-FDF57430D8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DA6DEA-71E1-A962-A8C3-A64564253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4D57BC-2D3D-35CF-EF07-41C45E115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7E9F-89F3-A146-BAC5-DC786C39DC7B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66973F-6E25-1260-C76A-02F4AA15F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8845A2-8F43-CCA2-3AE2-90917FCC1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6361-5432-B040-9B0C-0810FD3E2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15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14AA9-65FD-DE28-30B7-E49621499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2E8225-FA14-D52E-FD49-B4E0F290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7E9F-89F3-A146-BAC5-DC786C39DC7B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5EC836-12B5-5CFE-2683-620E79504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8A4E5E-09F7-8F44-790F-2F5FA3727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6361-5432-B040-9B0C-0810FD3E2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691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A68DD2-C0B7-5020-6F73-48CADD1FD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7E9F-89F3-A146-BAC5-DC786C39DC7B}" type="datetimeFigureOut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F1BBD8-24DD-EA25-E635-6F3537448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E0B86-C554-AF4D-A34D-15B36F30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6361-5432-B040-9B0C-0810FD3E2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39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1103F-6D47-4C16-19E8-AC16520E7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1DBF9-7227-52FF-FADB-AEA9D2E40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AEA35C-FF5A-806B-7037-0A7D4D5D08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068A9-ADC3-8C76-1FFF-12EF2381C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7E9F-89F3-A146-BAC5-DC786C39DC7B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3BFD9-1055-4ECE-7E59-01E1993C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F8668-3584-958A-4AD5-314C1883F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6361-5432-B040-9B0C-0810FD3E2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77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D2304-A45A-F64B-4621-CB6F0215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1F1A23-98DB-A8C1-14EA-57356A41F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A5EA6-4069-7295-8596-BFAADB491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6C900-8317-EAFF-7FC1-6C77B7FE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7E9F-89F3-A146-BAC5-DC786C39DC7B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7CFCC-4C04-FBD7-01C8-A2311CC73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75ED3-794E-87CE-5D5E-7EAA33A27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6361-5432-B040-9B0C-0810FD3E2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03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933F6-C541-5995-115A-6EEFF967F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A410E2-CA3D-2A25-3DE2-2867D5473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FA48C-7361-7E01-CAC5-36E167883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7E9F-89F3-A146-BAC5-DC786C39DC7B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82075-FEB1-F94D-8051-ECCDB9035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D86A8-5032-01E8-AEEC-DAC09BB2B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6361-5432-B040-9B0C-0810FD3E2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376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C159D-2D21-6CEF-8CE9-B5DDC2DA4F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9626C-D091-9A40-5355-85C824D6E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ED213-21AA-1BD8-5B44-09A5F2618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7E9F-89F3-A146-BAC5-DC786C39DC7B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718D6-FD05-6C6E-2888-9A5D669D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19D45-006A-A5F4-BA3A-5E47951C2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6361-5432-B040-9B0C-0810FD3E2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39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4745F-042E-5428-5741-00FE0F677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732ED7-B459-68C4-D366-A3A7DD8F5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C3B91-0D32-944D-F0A6-C707D14ED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111F-E620-DC42-A6C1-1BFD5AA37BED}" type="datetime1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5D184-1F6C-AE53-E232-50C73C9B8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F8621-122D-0E95-9097-B8BC6323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CC368-8C51-0548-ABA7-03E9D6524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263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9381B-87E4-9216-52F6-F83327AD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A5821-0BFE-0325-D0DA-1D8929408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E516E-C326-C0D0-B5E8-90B344DB5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3EBF-E54F-B74C-A349-96B224917C79}" type="datetime1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2BE0A-25CB-F336-4ACB-A46436484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1CF42-B790-F38A-7833-F103E635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CC368-8C51-0548-ABA7-03E9D6524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01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14889-2616-5E3F-F61A-42AD1A18E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89F56-6597-FE08-A92C-36D4BA2B8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8A4F1-6ED5-2D24-35EB-02C8CF486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356A-D922-2344-9D31-25306C68EFB8}" type="datetime1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91069-A9FF-4156-CC97-829216B1E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0EB95-AA86-9F3E-BB86-202A48495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CC368-8C51-0548-ABA7-03E9D6524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384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E1510-08FF-4C9E-5BE2-6F0B9992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CCD5F-F844-EB27-7AAA-F90D5373C3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DA34A-C0DC-3C34-89F2-D80A56818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0E2E1-7C62-1626-F9A5-EE6CAD233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66E0-685A-B344-A41E-9824C3A5FD1F}" type="datetime1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F53BB-DB65-B00A-0361-F9D0797E4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56F3B-7B7F-2B21-138B-248164898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CC368-8C51-0548-ABA7-03E9D6524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762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E0E17-17DD-F7E0-6F5E-8661115E7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194DD-5BC2-D5DB-0AAC-1CF38543D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D3E9A0-4BD0-CFE8-641E-A11EBB6FC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542D9-942D-D5B2-9104-95DDF12BED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8C3FC1-D9F7-89B9-5DB3-9D42DD415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403EE3-69C6-BE41-22D0-41435B3F5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BE96-FBFE-4349-8394-5CF031706B82}" type="datetime1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884938-5BA5-CAFA-080A-45A4994A0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78E78A-EB69-EAB9-085E-AC62F4C2C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CC368-8C51-0548-ABA7-03E9D6524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444F8-AC4F-13E5-67C3-94FAC8936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859AEB-1C66-0509-8526-6280CEC4E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7DE3-134A-4B4D-B71B-5DAB92185899}" type="datetime1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C01A17-1FC3-DB90-AB0C-937127B3D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FADB86-0A8F-7A59-B98F-4F40F95F5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CC368-8C51-0548-ABA7-03E9D6524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633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B8D345-2E7F-676A-9E59-5093DAC80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3ED-E7DC-4148-BC0D-2A0244B3A02D}" type="datetime1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AEB98-3A33-59B1-9B28-708CA36E6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D3D85-5516-2573-8E51-87B5B4D7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CC368-8C51-0548-ABA7-03E9D6524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41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751DE-0725-281A-0791-8DB0D424B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1E2E7-7F69-1B62-789B-A67E37F8A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CA0429-0D0D-47A1-FF9E-B26B37892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5C7DE-426F-7664-C7BF-05C369D5E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68F77-D227-D140-B204-5C402BF0E6C7}" type="datetime1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0306D-EEBD-77AE-E109-58201324A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760F5-DE08-8525-04AF-800E84AB1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CC368-8C51-0548-ABA7-03E9D6524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900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BDB39-46F0-A246-EBBF-8E2A7076E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8CDD6A-E6A1-FE51-9D63-14ED24057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4D112-B773-23AF-468F-E126FF860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85131-F805-2A24-CA2B-9D43F459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3F04-0F71-004D-85BE-B9BF3B3F26A2}" type="datetime1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32DE0-D8C0-BE9A-7E25-399182EE4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23E64-8F2A-1633-C972-391B65977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CC368-8C51-0548-ABA7-03E9D6524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9087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27F99-DD37-B1CA-C5D4-29C5ADB8A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F0085-1DF7-2A99-8198-65B303BB74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B02F6-0950-3DE1-C10A-F4991AF5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333A1-2ACA-914F-9F47-3B6B49E544F7}" type="datetime1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7418A-6D27-5E26-A1AE-54EF0FCF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98059-83D6-82A9-7740-FF48D9306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CC368-8C51-0548-ABA7-03E9D6524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671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D7C0FA-B5C3-276E-1D93-E1D4CF1B5E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068487-C4E6-9648-4ADB-608978689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02E5E-4181-3151-CE5C-340AFA6C6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3DE27-FF8F-6548-923B-02610D40EAB7}" type="datetime1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452E2-0C04-C5C6-B031-EDA4402E0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7223F-4D93-BFCC-8E6E-A64A44AFB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CC368-8C51-0548-ABA7-03E9D6524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58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17F0C-9E52-5524-F3DA-DA4D4F6AE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A1B0A-2F23-F3F8-AE4C-80C603588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23F16-67CD-3E19-A126-101712D0E5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F7E9F-89F3-A146-BAC5-DC786C39DC7B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45015-3AFD-FAD0-22AF-E729131561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F8942-73FF-434F-EB02-43680FBD8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9D6361-5432-B040-9B0C-0810FD3E2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965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BCBDEF-5ED3-54F5-57D0-FF349BC2D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CD811-8FC4-0B6A-9759-E123CF184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CBBD1-4EB0-B4D5-8095-997672D2C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44009-9124-E84A-A903-00DAA3672177}" type="datetime1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A8BB9-9148-3205-5D10-5A6A5CED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B01A9-ABD2-FAE2-7FED-752D1AE97C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ACC368-8C51-0548-ABA7-03E9D6524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3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6.emf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8.emf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linelist.pa.uky.edu/newpage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inelist.pa.uky.edu/newpage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elist.pa.uky.edu/newpage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hyperlink" Target="https://linelist.pa.uky.edu/newpage/" TargetMode="External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3.png"/><Relationship Id="rId4" Type="http://schemas.openxmlformats.org/officeDocument/2006/relationships/customXml" Target="../ink/ink1.xml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3945E-7016-C287-6D1B-B41D9D49D8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Interpreting Spectra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96536C-CAAB-BD2D-BA33-258DFFA14F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AstroNuc</a:t>
            </a:r>
            <a:r>
              <a:rPr lang="en-US" dirty="0"/>
              <a:t> Practical Session</a:t>
            </a:r>
          </a:p>
          <a:p>
            <a:endParaRPr lang="en-US" dirty="0"/>
          </a:p>
          <a:p>
            <a:r>
              <a:rPr lang="en-US" dirty="0"/>
              <a:t>Lindsey Kwok</a:t>
            </a:r>
          </a:p>
        </p:txBody>
      </p:sp>
    </p:spTree>
    <p:extLst>
      <p:ext uri="{BB962C8B-B14F-4D97-AF65-F5344CB8AC3E}">
        <p14:creationId xmlns:p14="http://schemas.microsoft.com/office/powerpoint/2010/main" val="2760104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B769-88EE-7912-AAFF-0C3FA1B6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will learn: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4457E-6CDA-0A91-D819-F27584758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Basics of identifying spectral lines (in transients)</a:t>
            </a:r>
          </a:p>
          <a:p>
            <a:r>
              <a:rPr lang="en-US" dirty="0"/>
              <a:t>Line ID rules of engagement</a:t>
            </a:r>
          </a:p>
          <a:p>
            <a:r>
              <a:rPr lang="en-US" dirty="0"/>
              <a:t>Practice using the Atomic Line List</a:t>
            </a:r>
          </a:p>
          <a:p>
            <a:r>
              <a:rPr lang="en-US" dirty="0"/>
              <a:t>Interpreting line profile shapes</a:t>
            </a:r>
          </a:p>
          <a:p>
            <a:r>
              <a:rPr lang="en-US" dirty="0"/>
              <a:t>Understanding of limitations</a:t>
            </a:r>
          </a:p>
          <a:p>
            <a:pPr lvl="1"/>
            <a:r>
              <a:rPr lang="en-US" dirty="0"/>
              <a:t>Dust, 3D effects/anisotropies, line blending</a:t>
            </a:r>
          </a:p>
          <a:p>
            <a:r>
              <a:rPr lang="en-US" dirty="0"/>
              <a:t>Using/ comparing with models</a:t>
            </a:r>
          </a:p>
          <a:p>
            <a:r>
              <a:rPr lang="en-US" dirty="0"/>
              <a:t>Beginner level</a:t>
            </a:r>
          </a:p>
        </p:txBody>
      </p:sp>
    </p:spTree>
    <p:extLst>
      <p:ext uri="{BB962C8B-B14F-4D97-AF65-F5344CB8AC3E}">
        <p14:creationId xmlns:p14="http://schemas.microsoft.com/office/powerpoint/2010/main" val="1570467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5212-7524-944A-29DB-F798CC5CB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Nebular Emission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383E7-69B0-EFB6-C85F-806C99861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377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Assumptions: optically thin, </a:t>
            </a:r>
            <a:r>
              <a:rPr lang="en-US" dirty="0" err="1"/>
              <a:t>axisymmetry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DF44FF-1401-A270-4D47-5143B13AB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2889"/>
            <a:ext cx="10455089" cy="524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718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phere_v2">
            <a:hlinkClick r:id="" action="ppaction://media"/>
            <a:extLst>
              <a:ext uri="{FF2B5EF4-FFF2-40B4-BE49-F238E27FC236}">
                <a16:creationId xmlns:a16="http://schemas.microsoft.com/office/drawing/2014/main" id="{4AEE0733-90A7-4DA1-81BE-DB0D9AC234E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540" y="894033"/>
            <a:ext cx="9959789" cy="5094017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08FE3710-B238-99C3-5799-685D4D40D924}"/>
              </a:ext>
            </a:extLst>
          </p:cNvPr>
          <p:cNvSpPr/>
          <p:nvPr/>
        </p:nvSpPr>
        <p:spPr>
          <a:xfrm>
            <a:off x="5813312" y="5136030"/>
            <a:ext cx="872355" cy="1473544"/>
          </a:xfrm>
          <a:prstGeom prst="ellipse">
            <a:avLst/>
          </a:prstGeom>
          <a:solidFill>
            <a:srgbClr val="C64A63">
              <a:alpha val="7529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03F5E7-D38E-3973-BC83-86B5B22DE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7085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Line profiles: uniform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B935F9-BB80-D3B7-C08C-ADF398B7B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ACC368-8C51-0548-ABA7-03E9D6524D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6" name="Picture 15" descr="A yellow line on a black background&#10;&#10;AI-generated content may be incorrect.">
            <a:extLst>
              <a:ext uri="{FF2B5EF4-FFF2-40B4-BE49-F238E27FC236}">
                <a16:creationId xmlns:a16="http://schemas.microsoft.com/office/drawing/2014/main" id="{D8D5019C-DFE2-A45E-50FB-948EEA9827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118100"/>
            <a:ext cx="12192000" cy="17399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B578B09-865C-49AA-AAC0-9C5B90D8AE16}"/>
              </a:ext>
            </a:extLst>
          </p:cNvPr>
          <p:cNvSpPr txBox="1"/>
          <p:nvPr/>
        </p:nvSpPr>
        <p:spPr>
          <a:xfrm>
            <a:off x="6535523" y="6151650"/>
            <a:ext cx="1236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SN 2024gy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BC6FFC-86B5-E3BD-6128-1ED78CCC174A}"/>
              </a:ext>
            </a:extLst>
          </p:cNvPr>
          <p:cNvSpPr txBox="1"/>
          <p:nvPr/>
        </p:nvSpPr>
        <p:spPr>
          <a:xfrm>
            <a:off x="116540" y="6120872"/>
            <a:ext cx="7360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 µm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692149-FE00-5BB3-F85E-1B0292403D78}"/>
              </a:ext>
            </a:extLst>
          </p:cNvPr>
          <p:cNvSpPr txBox="1"/>
          <p:nvPr/>
        </p:nvSpPr>
        <p:spPr>
          <a:xfrm>
            <a:off x="11132674" y="5988050"/>
            <a:ext cx="8723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25 µm</a:t>
            </a:r>
          </a:p>
        </p:txBody>
      </p:sp>
    </p:spTree>
    <p:extLst>
      <p:ext uri="{BB962C8B-B14F-4D97-AF65-F5344CB8AC3E}">
        <p14:creationId xmlns:p14="http://schemas.microsoft.com/office/powerpoint/2010/main" val="3747148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34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C737D-964B-B41B-6FC0-ECB15ED79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44C765EC-634E-AB7C-FD67-D3BA52B4AE40}"/>
              </a:ext>
            </a:extLst>
          </p:cNvPr>
          <p:cNvSpPr/>
          <p:nvPr/>
        </p:nvSpPr>
        <p:spPr>
          <a:xfrm rot="5400000">
            <a:off x="3972455" y="6055971"/>
            <a:ext cx="647760" cy="736099"/>
          </a:xfrm>
          <a:prstGeom prst="ellipse">
            <a:avLst/>
          </a:prstGeom>
          <a:solidFill>
            <a:srgbClr val="C64A63">
              <a:alpha val="7529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shell_v2">
            <a:hlinkClick r:id="" action="ppaction://media"/>
            <a:extLst>
              <a:ext uri="{FF2B5EF4-FFF2-40B4-BE49-F238E27FC236}">
                <a16:creationId xmlns:a16="http://schemas.microsoft.com/office/drawing/2014/main" id="{E107C27E-DD65-7B45-4EEB-4064743A70D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539" y="890330"/>
            <a:ext cx="9959789" cy="50940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C506D5-4633-A2A8-EF74-74DDAD46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7085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Line profiles: thick shell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7C784A-D4E4-9327-D0A2-349B694D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ACC368-8C51-0548-ABA7-03E9D6524D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76F1C0C-20FA-91EB-E345-1EDCCDFEDADD}"/>
              </a:ext>
            </a:extLst>
          </p:cNvPr>
          <p:cNvGrpSpPr/>
          <p:nvPr/>
        </p:nvGrpSpPr>
        <p:grpSpPr>
          <a:xfrm>
            <a:off x="0" y="5118100"/>
            <a:ext cx="12192000" cy="1739900"/>
            <a:chOff x="0" y="5118100"/>
            <a:chExt cx="12192000" cy="1739900"/>
          </a:xfrm>
        </p:grpSpPr>
        <p:pic>
          <p:nvPicPr>
            <p:cNvPr id="16" name="Picture 15" descr="A yellow line on a black background&#10;&#10;AI-generated content may be incorrect.">
              <a:extLst>
                <a:ext uri="{FF2B5EF4-FFF2-40B4-BE49-F238E27FC236}">
                  <a16:creationId xmlns:a16="http://schemas.microsoft.com/office/drawing/2014/main" id="{E80046EE-5510-CC16-03B1-CB0A1EBF2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5118100"/>
              <a:ext cx="12192000" cy="17399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E0F21A7-86DE-0DBE-17F5-473513B15087}"/>
                </a:ext>
              </a:extLst>
            </p:cNvPr>
            <p:cNvSpPr txBox="1"/>
            <p:nvPr/>
          </p:nvSpPr>
          <p:spPr>
            <a:xfrm>
              <a:off x="6535523" y="6151650"/>
              <a:ext cx="12368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A5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SN 2024gy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947C258-1E9B-5B16-FA58-E392B8ABCAFB}"/>
                </a:ext>
              </a:extLst>
            </p:cNvPr>
            <p:cNvSpPr txBox="1"/>
            <p:nvPr/>
          </p:nvSpPr>
          <p:spPr>
            <a:xfrm>
              <a:off x="116540" y="6120872"/>
              <a:ext cx="7360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5 µm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B8C38E5-96EE-E772-D7A5-FBA3EEAD08E1}"/>
                </a:ext>
              </a:extLst>
            </p:cNvPr>
            <p:cNvSpPr txBox="1"/>
            <p:nvPr/>
          </p:nvSpPr>
          <p:spPr>
            <a:xfrm>
              <a:off x="11132674" y="5988050"/>
              <a:ext cx="8723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25 µm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5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B4CB8B-4A54-9428-D33B-26943BD66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FA8AA-5E17-EAA6-F669-4ECBBFAB5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27"/>
            <a:ext cx="10515600" cy="87085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SN 2024gy: ~Gaussian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BCE0DE-491B-5176-2BCD-1A815720B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ACC368-8C51-0548-ABA7-03E9D6524D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gaussian">
            <a:hlinkClick r:id="" action="ppaction://media"/>
            <a:extLst>
              <a:ext uri="{FF2B5EF4-FFF2-40B4-BE49-F238E27FC236}">
                <a16:creationId xmlns:a16="http://schemas.microsoft.com/office/drawing/2014/main" id="{C69D5E77-12BB-82B3-E419-CA0257F3EC8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021397"/>
            <a:ext cx="8009847" cy="409670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EAE738B-0C75-A69A-BEC3-03958BD45F95}"/>
              </a:ext>
            </a:extLst>
          </p:cNvPr>
          <p:cNvSpPr txBox="1">
            <a:spLocks/>
          </p:cNvSpPr>
          <p:nvPr/>
        </p:nvSpPr>
        <p:spPr>
          <a:xfrm>
            <a:off x="8635704" y="3543509"/>
            <a:ext cx="3206793" cy="24795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30000" noProof="0" dirty="0">
                <a:ln>
                  <a:noFill/>
                </a:ln>
                <a:solidFill>
                  <a:srgbClr val="EE8026"/>
                </a:solidFill>
                <a:effectLst/>
                <a:uLnTx/>
                <a:uFillTx/>
                <a:latin typeface="Aptos" panose="02110004020202020204"/>
                <a:ea typeface="+mj-ea"/>
                <a:cs typeface="+mj-cs"/>
              </a:rPr>
              <a:t>56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E8026"/>
                </a:solidFill>
                <a:effectLst/>
                <a:uLnTx/>
                <a:uFillTx/>
                <a:latin typeface="Aptos" panose="02110004020202020204"/>
                <a:ea typeface="+mj-ea"/>
                <a:cs typeface="+mj-cs"/>
              </a:rPr>
              <a:t>Co traces radioactive IGEs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 panose="02110004020202020204"/>
                <a:ea typeface="+mj-ea"/>
                <a:cs typeface="+mj-cs"/>
                <a:sym typeface="Wingdings" pitchFamily="2" charset="2"/>
              </a:rPr>
              <a:t> high densities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 panose="02110004020202020204"/>
              <a:ea typeface="+mj-ea"/>
              <a:cs typeface="+mj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684EB6C-70EE-A224-3876-46F135902F71}"/>
              </a:ext>
            </a:extLst>
          </p:cNvPr>
          <p:cNvSpPr/>
          <p:nvPr/>
        </p:nvSpPr>
        <p:spPr>
          <a:xfrm>
            <a:off x="5813312" y="5136030"/>
            <a:ext cx="872355" cy="1473544"/>
          </a:xfrm>
          <a:prstGeom prst="ellipse">
            <a:avLst/>
          </a:prstGeom>
          <a:solidFill>
            <a:srgbClr val="C64A63">
              <a:alpha val="7529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EA1D19A-6EC5-51BD-EE2E-015FB804F587}"/>
              </a:ext>
            </a:extLst>
          </p:cNvPr>
          <p:cNvGrpSpPr/>
          <p:nvPr/>
        </p:nvGrpSpPr>
        <p:grpSpPr>
          <a:xfrm>
            <a:off x="0" y="5118100"/>
            <a:ext cx="12192000" cy="1739900"/>
            <a:chOff x="0" y="5118100"/>
            <a:chExt cx="12192000" cy="1739900"/>
          </a:xfrm>
        </p:grpSpPr>
        <p:pic>
          <p:nvPicPr>
            <p:cNvPr id="9" name="Picture 8" descr="A yellow line on a black background&#10;&#10;AI-generated content may be incorrect.">
              <a:extLst>
                <a:ext uri="{FF2B5EF4-FFF2-40B4-BE49-F238E27FC236}">
                  <a16:creationId xmlns:a16="http://schemas.microsoft.com/office/drawing/2014/main" id="{2ACD6540-5DEB-21E0-9C60-257A85829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5118100"/>
              <a:ext cx="12192000" cy="17399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790319F-54D3-3F69-DBFD-5D2E5BC687C5}"/>
                </a:ext>
              </a:extLst>
            </p:cNvPr>
            <p:cNvSpPr txBox="1"/>
            <p:nvPr/>
          </p:nvSpPr>
          <p:spPr>
            <a:xfrm>
              <a:off x="6535523" y="6151650"/>
              <a:ext cx="12368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A5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SN 2024gy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9FCFEA6-39FB-89F4-130C-4499A63E1BE5}"/>
                </a:ext>
              </a:extLst>
            </p:cNvPr>
            <p:cNvSpPr txBox="1"/>
            <p:nvPr/>
          </p:nvSpPr>
          <p:spPr>
            <a:xfrm>
              <a:off x="116540" y="6120872"/>
              <a:ext cx="7360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5 µm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E55B839-F8A1-BB74-79DB-7DE25A37D05C}"/>
                </a:ext>
              </a:extLst>
            </p:cNvPr>
            <p:cNvSpPr txBox="1"/>
            <p:nvPr/>
          </p:nvSpPr>
          <p:spPr>
            <a:xfrm>
              <a:off x="11132674" y="5988050"/>
              <a:ext cx="8723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25 µm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AA4F0AB-1251-149C-FB06-DA4A71E0B0A8}"/>
              </a:ext>
            </a:extLst>
          </p:cNvPr>
          <p:cNvGrpSpPr/>
          <p:nvPr/>
        </p:nvGrpSpPr>
        <p:grpSpPr>
          <a:xfrm>
            <a:off x="8483598" y="565688"/>
            <a:ext cx="3694995" cy="3086981"/>
            <a:chOff x="8483598" y="565688"/>
            <a:chExt cx="3694995" cy="308698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CC98858-7FB4-EE63-9351-414F45A42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83598" y="959295"/>
              <a:ext cx="3511006" cy="2693374"/>
            </a:xfrm>
            <a:prstGeom prst="rect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B61525-351C-EE85-5A54-A5E7E0A89C82}"/>
                </a:ext>
              </a:extLst>
            </p:cNvPr>
            <p:cNvSpPr txBox="1"/>
            <p:nvPr/>
          </p:nvSpPr>
          <p:spPr>
            <a:xfrm>
              <a:off x="10128224" y="565688"/>
              <a:ext cx="20503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Kwok et al, in prep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7651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6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DF92FD-6BF8-219E-72F5-9CA7ECDB0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hell_v3">
            <a:hlinkClick r:id="" action="ppaction://media"/>
            <a:extLst>
              <a:ext uri="{FF2B5EF4-FFF2-40B4-BE49-F238E27FC236}">
                <a16:creationId xmlns:a16="http://schemas.microsoft.com/office/drawing/2014/main" id="{CACE6281-9010-0049-EF88-A67E5604293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" y="1021397"/>
            <a:ext cx="8009847" cy="409670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2AD3A316-7501-7FE3-8DB3-3063393BA775}"/>
              </a:ext>
            </a:extLst>
          </p:cNvPr>
          <p:cNvSpPr/>
          <p:nvPr/>
        </p:nvSpPr>
        <p:spPr>
          <a:xfrm rot="5400000">
            <a:off x="3972455" y="6055971"/>
            <a:ext cx="647760" cy="736099"/>
          </a:xfrm>
          <a:prstGeom prst="ellipse">
            <a:avLst/>
          </a:prstGeom>
          <a:solidFill>
            <a:srgbClr val="C64A63">
              <a:alpha val="7529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125247-ED52-61BD-C45E-697AA4CAA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27"/>
            <a:ext cx="10515600" cy="87085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SN 2024gy: non-uniform thick shell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249EA7-5926-E8CB-79F3-43CFEECEE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ACC368-8C51-0548-ABA7-03E9D6524D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05F75ED-045D-E609-E39D-8215CAD548DD}"/>
              </a:ext>
            </a:extLst>
          </p:cNvPr>
          <p:cNvGrpSpPr/>
          <p:nvPr/>
        </p:nvGrpSpPr>
        <p:grpSpPr>
          <a:xfrm>
            <a:off x="0" y="5118100"/>
            <a:ext cx="12192000" cy="1739900"/>
            <a:chOff x="0" y="5118100"/>
            <a:chExt cx="12192000" cy="1739900"/>
          </a:xfrm>
        </p:grpSpPr>
        <p:pic>
          <p:nvPicPr>
            <p:cNvPr id="9" name="Picture 8" descr="A yellow line on a black background&#10;&#10;AI-generated content may be incorrect.">
              <a:extLst>
                <a:ext uri="{FF2B5EF4-FFF2-40B4-BE49-F238E27FC236}">
                  <a16:creationId xmlns:a16="http://schemas.microsoft.com/office/drawing/2014/main" id="{ED567F6F-66F9-4239-3BB9-F84BE089A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5118100"/>
              <a:ext cx="12192000" cy="17399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BC7AD34-6317-0375-288C-89F9B93A8AE1}"/>
                </a:ext>
              </a:extLst>
            </p:cNvPr>
            <p:cNvSpPr txBox="1"/>
            <p:nvPr/>
          </p:nvSpPr>
          <p:spPr>
            <a:xfrm>
              <a:off x="6535523" y="6151650"/>
              <a:ext cx="12368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A5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SN 2024gy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980A524-FDA4-5A95-DD83-F17E57343897}"/>
                </a:ext>
              </a:extLst>
            </p:cNvPr>
            <p:cNvSpPr txBox="1"/>
            <p:nvPr/>
          </p:nvSpPr>
          <p:spPr>
            <a:xfrm>
              <a:off x="116540" y="6120872"/>
              <a:ext cx="7360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5 µm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FD95B2-B067-5FF5-FA88-39EACAD8FF3F}"/>
                </a:ext>
              </a:extLst>
            </p:cNvPr>
            <p:cNvSpPr txBox="1"/>
            <p:nvPr/>
          </p:nvSpPr>
          <p:spPr>
            <a:xfrm>
              <a:off x="11132674" y="5988050"/>
              <a:ext cx="8723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25 µm</a:t>
              </a: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34CFFBD4-AB91-F414-CBE2-2D258F3A76AE}"/>
              </a:ext>
            </a:extLst>
          </p:cNvPr>
          <p:cNvSpPr txBox="1">
            <a:spLocks/>
          </p:cNvSpPr>
          <p:nvPr/>
        </p:nvSpPr>
        <p:spPr>
          <a:xfrm>
            <a:off x="8635704" y="3926153"/>
            <a:ext cx="3206793" cy="11456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E8026"/>
                </a:solidFill>
                <a:effectLst/>
                <a:uLnTx/>
                <a:uFillTx/>
                <a:latin typeface="Aptos" panose="02110004020202020204"/>
                <a:ea typeface="+mj-ea"/>
                <a:cs typeface="+mj-cs"/>
              </a:rPr>
              <a:t>Ar traces IMEs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  <a:sym typeface="Wingdings" pitchFamily="2" charset="2"/>
              </a:rPr>
              <a:t> lower densities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F025E8-D9AF-BFCE-AD20-48A908A1FF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3596" y="959294"/>
            <a:ext cx="3511007" cy="2693375"/>
          </a:xfrm>
          <a:prstGeom prst="rect">
            <a:avLst/>
          </a:prstGeom>
          <a:ln w="57150">
            <a:solidFill>
              <a:schemeClr val="bg1">
                <a:lumMod val="75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65DD4F-59B9-0E11-B22C-E7497E652090}"/>
              </a:ext>
            </a:extLst>
          </p:cNvPr>
          <p:cNvSpPr txBox="1"/>
          <p:nvPr/>
        </p:nvSpPr>
        <p:spPr>
          <a:xfrm>
            <a:off x="10128224" y="565688"/>
            <a:ext cx="205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Kwok et al, in prep</a:t>
            </a:r>
          </a:p>
        </p:txBody>
      </p:sp>
    </p:spTree>
    <p:extLst>
      <p:ext uri="{BB962C8B-B14F-4D97-AF65-F5344CB8AC3E}">
        <p14:creationId xmlns:p14="http://schemas.microsoft.com/office/powerpoint/2010/main" val="3092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634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vol="80000">
                <p:cTn id="20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875EA-A6D4-2627-0BF9-252D019BF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Line ID Rules of Engagement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3D18EF-C420-32FE-5D98-364B1CD8C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CC368-8C51-0548-ABA7-03E9D6524DC5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894C8E-CCE9-181F-0C0E-B73741B8CEFF}"/>
              </a:ext>
            </a:extLst>
          </p:cNvPr>
          <p:cNvSpPr txBox="1">
            <a:spLocks/>
          </p:cNvSpPr>
          <p:nvPr/>
        </p:nvSpPr>
        <p:spPr>
          <a:xfrm>
            <a:off x="838200" y="1253331"/>
            <a:ext cx="10515600" cy="5260680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Let the physics inform your assumptions:</a:t>
            </a:r>
          </a:p>
          <a:p>
            <a:pPr lvl="1"/>
            <a:r>
              <a:rPr lang="en-US" dirty="0"/>
              <a:t>Which ionization levels make sense? (e.g., [Ni X] NOT expected in SN Ia)</a:t>
            </a:r>
          </a:p>
          <a:p>
            <a:pPr lvl="1"/>
            <a:r>
              <a:rPr lang="en-US" dirty="0"/>
              <a:t>Which elements are probable/possible? (e.g., no r-process in SN Ia)</a:t>
            </a:r>
          </a:p>
          <a:p>
            <a:r>
              <a:rPr lang="en-US" dirty="0"/>
              <a:t>Transitions from the same ion (e.g. [Ni II]) should share similar shape and velocities (FWHM and offset)</a:t>
            </a:r>
          </a:p>
          <a:p>
            <a:r>
              <a:rPr lang="en-US" dirty="0"/>
              <a:t>Forbidden transitions down to the ground state should be stronger than transitions between upper levels</a:t>
            </a:r>
          </a:p>
          <a:p>
            <a:r>
              <a:rPr lang="en-US" dirty="0"/>
              <a:t>In the nebular phase, stronger transitions are generally between lower levels, closer to the ground state.</a:t>
            </a:r>
          </a:p>
          <a:p>
            <a:r>
              <a:rPr lang="en-US" dirty="0"/>
              <a:t>Check whether there are lines from your ion at other wavelengths that are expected to be strong</a:t>
            </a:r>
          </a:p>
          <a:p>
            <a:r>
              <a:rPr lang="en-US" dirty="0"/>
              <a:t>If you have a line that *might* be something exciting, check whether it could be explained instead by a more mundane line</a:t>
            </a:r>
          </a:p>
          <a:p>
            <a:r>
              <a:rPr lang="en-US" dirty="0"/>
              <a:t>If model line lists (with expected strengths of lines) are available, check against them</a:t>
            </a:r>
          </a:p>
          <a:p>
            <a:r>
              <a:rPr lang="en-US" dirty="0"/>
              <a:t>Check line IDs from the literature</a:t>
            </a:r>
          </a:p>
          <a:p>
            <a:r>
              <a:rPr lang="en-US" dirty="0"/>
              <a:t>If there are multiple bumps/peaks to a feature, check carefully for possible line blending</a:t>
            </a:r>
          </a:p>
          <a:p>
            <a:r>
              <a:rPr lang="en-US" dirty="0"/>
              <a:t>Higher </a:t>
            </a:r>
            <a:r>
              <a:rPr lang="en-US" dirty="0" err="1"/>
              <a:t>A_ki</a:t>
            </a:r>
            <a:r>
              <a:rPr lang="en-US" dirty="0"/>
              <a:t> generally means line is expected to be stronger, but be careful to only compare within a small wavelength range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C33B4B-65C5-1F7C-E7BA-2A7FD4CD33CA}"/>
              </a:ext>
            </a:extLst>
          </p:cNvPr>
          <p:cNvSpPr txBox="1"/>
          <p:nvPr/>
        </p:nvSpPr>
        <p:spPr>
          <a:xfrm>
            <a:off x="8839200" y="383177"/>
            <a:ext cx="2760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Split into multiple slides</a:t>
            </a:r>
          </a:p>
          <a:p>
            <a:r>
              <a:rPr lang="en-US" dirty="0"/>
              <a:t>Show plots with examples</a:t>
            </a:r>
          </a:p>
        </p:txBody>
      </p:sp>
    </p:spTree>
    <p:extLst>
      <p:ext uri="{BB962C8B-B14F-4D97-AF65-F5344CB8AC3E}">
        <p14:creationId xmlns:p14="http://schemas.microsoft.com/office/powerpoint/2010/main" val="1884461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2F023-8DF3-2B8A-D502-4CD9B4CB0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Atomic Line List demo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69752D-AED1-BCA5-32F0-CDB175B9A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Atomic Line List (</a:t>
            </a:r>
            <a:r>
              <a:rPr lang="en-US" dirty="0">
                <a:hlinkClick r:id="rId2"/>
              </a:rPr>
              <a:t>https://linelist.pa.uky.edu/newpage/</a:t>
            </a:r>
            <a:r>
              <a:rPr lang="en-US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97628C-E88E-D0A8-198A-6EDD26A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CC368-8C51-0548-ABA7-03E9D6524DC5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94C417-FBBD-937F-C150-07537D19E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825990"/>
            <a:ext cx="7772400" cy="47129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AD3817-DBAC-319B-8C5F-6A0E7818C64C}"/>
              </a:ext>
            </a:extLst>
          </p:cNvPr>
          <p:cNvSpPr txBox="1"/>
          <p:nvPr/>
        </p:nvSpPr>
        <p:spPr>
          <a:xfrm>
            <a:off x="7346623" y="3429000"/>
            <a:ext cx="43315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specify a wavelength range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C228B2-C359-6C75-7D47-616AC361E231}"/>
              </a:ext>
            </a:extLst>
          </p:cNvPr>
          <p:cNvSpPr txBox="1"/>
          <p:nvPr/>
        </p:nvSpPr>
        <p:spPr>
          <a:xfrm>
            <a:off x="7346623" y="4348097"/>
            <a:ext cx="3652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don’t forget your units!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F10531D-3E1D-10CF-1E0A-E7AE33AEC0A0}"/>
              </a:ext>
            </a:extLst>
          </p:cNvPr>
          <p:cNvCxnSpPr/>
          <p:nvPr/>
        </p:nvCxnSpPr>
        <p:spPr>
          <a:xfrm flipH="1">
            <a:off x="2922494" y="3690610"/>
            <a:ext cx="4347882" cy="128355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0CB0F0-F6F3-2B16-D489-3FB6B174BFF3}"/>
              </a:ext>
            </a:extLst>
          </p:cNvPr>
          <p:cNvCxnSpPr>
            <a:cxnSpLocks/>
          </p:cNvCxnSpPr>
          <p:nvPr/>
        </p:nvCxnSpPr>
        <p:spPr>
          <a:xfrm flipH="1">
            <a:off x="4639183" y="4609707"/>
            <a:ext cx="2707440" cy="222549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752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D24E5-63E7-50A7-69A3-C6905DE65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3E46C6-297B-14C7-6A99-2574FE339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11098"/>
            <a:ext cx="7246532" cy="5615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5499B-2C10-F351-FC56-ED48631EE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Atomic Line List demo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22EE19-0C46-910D-DC20-AD3955CF6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399" y="361884"/>
            <a:ext cx="3300167" cy="158208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Atomic Line List (</a:t>
            </a:r>
            <a:r>
              <a:rPr lang="en-US" dirty="0">
                <a:hlinkClick r:id="rId3"/>
              </a:rPr>
              <a:t>https://linelist.pa.uky.edu/newpage/</a:t>
            </a:r>
            <a:r>
              <a:rPr lang="en-US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296ECD-ED55-2CB0-4CEE-1FBDCD623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CC368-8C51-0548-ABA7-03E9D6524DC5}" type="slidenum">
              <a:rPr lang="en-US" smtClean="0"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61593B-2E2A-FE08-7567-4D1D827560D4}"/>
              </a:ext>
            </a:extLst>
          </p:cNvPr>
          <p:cNvSpPr txBox="1"/>
          <p:nvPr/>
        </p:nvSpPr>
        <p:spPr>
          <a:xfrm>
            <a:off x="6375909" y="2115084"/>
            <a:ext cx="46229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specify your ion(s) of interest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AF4B91-E986-0927-22E8-7C24FCA5F4F5}"/>
              </a:ext>
            </a:extLst>
          </p:cNvPr>
          <p:cNvSpPr txBox="1"/>
          <p:nvPr/>
        </p:nvSpPr>
        <p:spPr>
          <a:xfrm>
            <a:off x="7483601" y="3392401"/>
            <a:ext cx="41163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change unit to eV</a:t>
            </a:r>
          </a:p>
          <a:p>
            <a:r>
              <a:rPr lang="en-US" dirty="0">
                <a:solidFill>
                  <a:srgbClr val="C00000"/>
                </a:solidFill>
              </a:rPr>
              <a:t>(much easier to tell whether the transition is between low-lying levels)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ED6F0F-A67E-87DF-F6B3-82BEEDBB49DE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3158996" y="1477579"/>
            <a:ext cx="3216913" cy="899115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ACBA17-4BDF-AEF1-6EB7-37A642F48FC1}"/>
              </a:ext>
            </a:extLst>
          </p:cNvPr>
          <p:cNvCxnSpPr>
            <a:cxnSpLocks/>
          </p:cNvCxnSpPr>
          <p:nvPr/>
        </p:nvCxnSpPr>
        <p:spPr>
          <a:xfrm flipH="1">
            <a:off x="5568610" y="3714161"/>
            <a:ext cx="1914991" cy="430122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C02A6AD-0516-AA14-79A4-1E22DF0A9D73}"/>
              </a:ext>
            </a:extLst>
          </p:cNvPr>
          <p:cNvSpPr txBox="1"/>
          <p:nvPr/>
        </p:nvSpPr>
        <p:spPr>
          <a:xfrm>
            <a:off x="8075629" y="4988011"/>
            <a:ext cx="411637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select nebular if you want forbidden transitions </a:t>
            </a:r>
          </a:p>
          <a:p>
            <a:r>
              <a:rPr lang="en-US" dirty="0">
                <a:solidFill>
                  <a:srgbClr val="C00000"/>
                </a:solidFill>
              </a:rPr>
              <a:t>(otherwise you will get a </a:t>
            </a:r>
            <a:r>
              <a:rPr lang="en-US" i="1" dirty="0">
                <a:solidFill>
                  <a:srgbClr val="C00000"/>
                </a:solidFill>
              </a:rPr>
              <a:t>lot</a:t>
            </a:r>
            <a:r>
              <a:rPr lang="en-US" dirty="0">
                <a:solidFill>
                  <a:srgbClr val="C00000"/>
                </a:solidFill>
              </a:rPr>
              <a:t> more lines to sort through)</a:t>
            </a:r>
            <a:endParaRPr lang="en-US" sz="2800" dirty="0">
              <a:solidFill>
                <a:srgbClr val="C00000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D94545-4821-B148-CFEC-5DC7DE1DCBF9}"/>
              </a:ext>
            </a:extLst>
          </p:cNvPr>
          <p:cNvCxnSpPr>
            <a:cxnSpLocks/>
          </p:cNvCxnSpPr>
          <p:nvPr/>
        </p:nvCxnSpPr>
        <p:spPr>
          <a:xfrm flipH="1">
            <a:off x="4034672" y="5281862"/>
            <a:ext cx="4040957" cy="223392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180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E0B11-575E-DB0D-1CF5-E75E95C58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2AB83D3-89DE-B393-25AA-CB33E2C26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37992"/>
            <a:ext cx="7237429" cy="56086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5C01D8-5D61-60FD-99C6-757614185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Atomic Line List demo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A4522B-F887-044E-BDAC-93A5E4420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399" y="361884"/>
            <a:ext cx="3300167" cy="158208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Atomic Line List (</a:t>
            </a:r>
            <a:r>
              <a:rPr lang="en-US" dirty="0">
                <a:hlinkClick r:id="rId3"/>
              </a:rPr>
              <a:t>https://linelist.pa.uky.edu/newpage/</a:t>
            </a:r>
            <a:r>
              <a:rPr lang="en-US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3F4C19-BB48-2E64-2315-8ABFD3BC4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CC368-8C51-0548-ABA7-03E9D6524DC5}" type="slidenum">
              <a:rPr lang="en-US" smtClean="0"/>
              <a:t>11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CEB8C-327F-3DC6-7683-6F8A2CE8AD90}"/>
              </a:ext>
            </a:extLst>
          </p:cNvPr>
          <p:cNvSpPr txBox="1"/>
          <p:nvPr/>
        </p:nvSpPr>
        <p:spPr>
          <a:xfrm>
            <a:off x="6412720" y="4236925"/>
            <a:ext cx="454215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select transition probability</a:t>
            </a:r>
          </a:p>
          <a:p>
            <a:r>
              <a:rPr lang="en-US" dirty="0">
                <a:solidFill>
                  <a:srgbClr val="C00000"/>
                </a:solidFill>
              </a:rPr>
              <a:t>(I find this useful for gauging relative expected strength of lines reasonably close in wavelength)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553B5D7-D27B-E916-C701-3734F2C07B6E}"/>
              </a:ext>
            </a:extLst>
          </p:cNvPr>
          <p:cNvCxnSpPr>
            <a:cxnSpLocks/>
          </p:cNvCxnSpPr>
          <p:nvPr/>
        </p:nvCxnSpPr>
        <p:spPr>
          <a:xfrm flipH="1" flipV="1">
            <a:off x="1680839" y="3859122"/>
            <a:ext cx="4648243" cy="703913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314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BF01E-1E59-4444-B4D7-D29E9EE74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170F94-B41A-A494-9E8D-DFD440C94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21" y="1059905"/>
            <a:ext cx="7975859" cy="54790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4AC142-2C83-5BF3-8BEA-95A03FCB3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Atomic Line List demo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53FD4D-3F22-1BCC-FA5A-A1DF80BE6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399" y="361884"/>
            <a:ext cx="3300167" cy="158208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Atomic Line List (</a:t>
            </a:r>
            <a:r>
              <a:rPr lang="en-US" dirty="0">
                <a:hlinkClick r:id="rId3"/>
              </a:rPr>
              <a:t>https://linelist.pa.uky.edu/newpage/</a:t>
            </a:r>
            <a:r>
              <a:rPr lang="en-US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DB013E-4D3E-5AB3-1C9E-84975543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CC368-8C51-0548-ABA7-03E9D6524DC5}" type="slidenum">
              <a:rPr lang="en-US" smtClean="0"/>
              <a:t>12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1D66FC-2C99-779F-3FEF-2F7D256FAE13}"/>
              </a:ext>
            </a:extLst>
          </p:cNvPr>
          <p:cNvSpPr txBox="1"/>
          <p:nvPr/>
        </p:nvSpPr>
        <p:spPr>
          <a:xfrm>
            <a:off x="6896813" y="2445191"/>
            <a:ext cx="454215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ground-state transition</a:t>
            </a:r>
          </a:p>
          <a:p>
            <a:r>
              <a:rPr lang="en-US" dirty="0"/>
              <a:t>Relatively high </a:t>
            </a:r>
            <a:r>
              <a:rPr lang="en-US" dirty="0" err="1"/>
              <a:t>A_ki</a:t>
            </a:r>
            <a:r>
              <a:rPr lang="en-US" dirty="0"/>
              <a:t> value, transition to the ground state from a low-lying energy level</a:t>
            </a:r>
          </a:p>
          <a:p>
            <a:r>
              <a:rPr lang="en-US" dirty="0">
                <a:sym typeface="Wingdings" pitchFamily="2" charset="2"/>
              </a:rPr>
              <a:t> Likely a strong line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F06AF2E-6F87-27C4-7755-65AECC62B630}"/>
              </a:ext>
            </a:extLst>
          </p:cNvPr>
          <p:cNvCxnSpPr>
            <a:cxnSpLocks/>
          </p:cNvCxnSpPr>
          <p:nvPr/>
        </p:nvCxnSpPr>
        <p:spPr>
          <a:xfrm flipH="1">
            <a:off x="5844988" y="2913529"/>
            <a:ext cx="1051825" cy="2585184"/>
          </a:xfrm>
          <a:prstGeom prst="straightConnector1">
            <a:avLst/>
          </a:prstGeom>
          <a:ln w="508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9513364-A50C-C47F-FE30-C90F7B8639CA}"/>
                  </a:ext>
                </a:extLst>
              </p14:cNvPr>
              <p14:cNvContentPartPr/>
              <p14:nvPr/>
            </p14:nvContentPartPr>
            <p14:xfrm>
              <a:off x="839456" y="5624696"/>
              <a:ext cx="6838920" cy="450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9513364-A50C-C47F-FE30-C90F7B8639C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5816" y="5516696"/>
                <a:ext cx="694656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E8073A7-5541-807E-A4A4-8985ED097C1D}"/>
                  </a:ext>
                </a:extLst>
              </p14:cNvPr>
              <p14:cNvContentPartPr/>
              <p14:nvPr/>
            </p14:nvContentPartPr>
            <p14:xfrm>
              <a:off x="871856" y="5955896"/>
              <a:ext cx="6798600" cy="45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E8073A7-5541-807E-A4A4-8985ED097C1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7856" y="5848256"/>
                <a:ext cx="690624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C5EDA1A-FE18-40EE-F9BC-699EDA5AADD6}"/>
                  </a:ext>
                </a:extLst>
              </p14:cNvPr>
              <p14:cNvContentPartPr/>
              <p14:nvPr/>
            </p14:nvContentPartPr>
            <p14:xfrm>
              <a:off x="879416" y="6293216"/>
              <a:ext cx="6806880" cy="51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C5EDA1A-FE18-40EE-F9BC-699EDA5AADD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5776" y="6185576"/>
                <a:ext cx="6914520" cy="26712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36A3114-3A8B-C300-CFDA-15BC5512CC32}"/>
              </a:ext>
            </a:extLst>
          </p:cNvPr>
          <p:cNvSpPr txBox="1"/>
          <p:nvPr/>
        </p:nvSpPr>
        <p:spPr>
          <a:xfrm>
            <a:off x="8051783" y="4206121"/>
            <a:ext cx="45421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Relatively high </a:t>
            </a:r>
            <a:r>
              <a:rPr lang="en-US" dirty="0" err="1"/>
              <a:t>A_ki</a:t>
            </a:r>
            <a:r>
              <a:rPr lang="en-US" dirty="0"/>
              <a:t> value, transition between low-</a:t>
            </a:r>
            <a:r>
              <a:rPr lang="en-US" dirty="0" err="1"/>
              <a:t>ish</a:t>
            </a:r>
            <a:r>
              <a:rPr lang="en-US" dirty="0"/>
              <a:t> energy levels</a:t>
            </a:r>
          </a:p>
          <a:p>
            <a:r>
              <a:rPr lang="en-US" dirty="0">
                <a:sym typeface="Wingdings" pitchFamily="2" charset="2"/>
              </a:rPr>
              <a:t> Possibly a contributing line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524459-C9B9-251E-50A2-FECDE457C8B5}"/>
              </a:ext>
            </a:extLst>
          </p:cNvPr>
          <p:cNvCxnSpPr>
            <a:cxnSpLocks/>
          </p:cNvCxnSpPr>
          <p:nvPr/>
        </p:nvCxnSpPr>
        <p:spPr>
          <a:xfrm flipH="1">
            <a:off x="7733830" y="5075986"/>
            <a:ext cx="758750" cy="879910"/>
          </a:xfrm>
          <a:prstGeom prst="straightConnector1">
            <a:avLst/>
          </a:prstGeom>
          <a:ln w="508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0D5547D-4B65-E5DE-5587-BA64E1054A6A}"/>
              </a:ext>
            </a:extLst>
          </p:cNvPr>
          <p:cNvSpPr txBox="1"/>
          <p:nvPr/>
        </p:nvSpPr>
        <p:spPr>
          <a:xfrm>
            <a:off x="8647197" y="5539951"/>
            <a:ext cx="3351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Very small </a:t>
            </a:r>
            <a:r>
              <a:rPr lang="en-US" dirty="0" err="1"/>
              <a:t>A_ki</a:t>
            </a:r>
            <a:r>
              <a:rPr lang="en-US" dirty="0"/>
              <a:t> value, transition between low-</a:t>
            </a:r>
            <a:r>
              <a:rPr lang="en-US" dirty="0" err="1"/>
              <a:t>ish</a:t>
            </a:r>
            <a:r>
              <a:rPr lang="en-US" dirty="0"/>
              <a:t> energy levels</a:t>
            </a:r>
          </a:p>
          <a:p>
            <a:r>
              <a:rPr lang="en-US" dirty="0">
                <a:sym typeface="Wingdings" pitchFamily="2" charset="2"/>
              </a:rPr>
              <a:t> Likely irrelevant</a:t>
            </a:r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059419B-507B-DB3E-1A45-4877106B8391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7733830" y="6001616"/>
            <a:ext cx="913367" cy="317340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054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BCF67-E315-F2E7-44BD-62A0FFB8F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563A4-6A78-CA70-7BD5-CD8F6F036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Line blending</a:t>
            </a:r>
          </a:p>
          <a:p>
            <a:pPr lvl="1"/>
            <a:r>
              <a:rPr lang="en-US" dirty="0"/>
              <a:t>Optical and NIR can be much harder than MIR, depending on source</a:t>
            </a:r>
          </a:p>
          <a:p>
            <a:r>
              <a:rPr lang="en-US" dirty="0"/>
              <a:t>Dust and molecules</a:t>
            </a:r>
          </a:p>
          <a:p>
            <a:pPr lvl="1"/>
            <a:r>
              <a:rPr lang="en-US" dirty="0"/>
              <a:t>Optical lines can be attenuated if dust is forming in the ejecta</a:t>
            </a:r>
          </a:p>
          <a:p>
            <a:pPr lvl="1"/>
            <a:r>
              <a:rPr lang="en-US" dirty="0"/>
              <a:t>Molecular emission can arise in the NIR and MIR</a:t>
            </a:r>
          </a:p>
          <a:p>
            <a:pPr lvl="2"/>
            <a:r>
              <a:rPr lang="en-US" dirty="0"/>
              <a:t>CO at 2.3 + 4.6 microns</a:t>
            </a:r>
          </a:p>
          <a:p>
            <a:pPr lvl="2"/>
            <a:r>
              <a:rPr lang="en-US" dirty="0"/>
              <a:t>PAH lines at 3.3, 6.X, 7.5, 11.3 microns</a:t>
            </a:r>
          </a:p>
          <a:p>
            <a:pPr lvl="2"/>
            <a:r>
              <a:rPr lang="en-US" dirty="0"/>
              <a:t>Generally broader and smoother</a:t>
            </a:r>
          </a:p>
          <a:p>
            <a:r>
              <a:rPr lang="en-US" dirty="0"/>
              <a:t>Asymmetries/anisotropies</a:t>
            </a:r>
          </a:p>
          <a:p>
            <a:r>
              <a:rPr lang="en-US" dirty="0"/>
              <a:t>3D effects we can’t fully reconstruct</a:t>
            </a:r>
          </a:p>
          <a:p>
            <a:r>
              <a:rPr lang="en-US" dirty="0"/>
              <a:t>Be aware of degeneracies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060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E7623-3DC8-A5AE-BC4F-8EEA0CD6C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E476E-3A16-1C28-5DA1-7410FA8A4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58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4029</TotalTime>
  <Words>668</Words>
  <Application>Microsoft Macintosh PowerPoint</Application>
  <PresentationFormat>Widescreen</PresentationFormat>
  <Paragraphs>102</Paragraphs>
  <Slides>14</Slides>
  <Notes>2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Office Theme</vt:lpstr>
      <vt:lpstr>1_Office Theme</vt:lpstr>
      <vt:lpstr>Interpreting Spectra</vt:lpstr>
      <vt:lpstr>What you will learn:</vt:lpstr>
      <vt:lpstr>Nebular Emission Lines</vt:lpstr>
      <vt:lpstr>Line profiles: uniform distribution</vt:lpstr>
      <vt:lpstr>Line profiles: thick shell distribution</vt:lpstr>
      <vt:lpstr>SN 2024gy: ~Gaussian distribution</vt:lpstr>
      <vt:lpstr>SN 2024gy: non-uniform thick shell</vt:lpstr>
      <vt:lpstr>Line ID Rules of Engagement</vt:lpstr>
      <vt:lpstr>Atomic Line List demo</vt:lpstr>
      <vt:lpstr>Atomic Line List demo</vt:lpstr>
      <vt:lpstr>Atomic Line List demo</vt:lpstr>
      <vt:lpstr>Atomic Line List demo</vt:lpstr>
      <vt:lpstr>Complications</vt:lpstr>
      <vt:lpstr>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Lindsey Kwok</dc:creator>
  <cp:lastModifiedBy>Lindsey Kwok</cp:lastModifiedBy>
  <cp:revision>1</cp:revision>
  <dcterms:created xsi:type="dcterms:W3CDTF">2026-02-09T22:02:02Z</dcterms:created>
  <dcterms:modified xsi:type="dcterms:W3CDTF">2026-02-12T17:12:00Z</dcterms:modified>
</cp:coreProperties>
</file>